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ink/ink1.xml" ContentType="application/inkml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1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0" r:id="rId12"/>
    <p:sldId id="269" r:id="rId13"/>
    <p:sldId id="259" r:id="rId14"/>
    <p:sldId id="270" r:id="rId15"/>
    <p:sldId id="258" r:id="rId16"/>
    <p:sldId id="274" r:id="rId17"/>
    <p:sldId id="275" r:id="rId18"/>
    <p:sldId id="272" r:id="rId19"/>
    <p:sldId id="276" r:id="rId20"/>
    <p:sldId id="277" r:id="rId21"/>
    <p:sldId id="278" r:id="rId22"/>
    <p:sldId id="282" r:id="rId23"/>
    <p:sldId id="279" r:id="rId24"/>
    <p:sldId id="2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40" y="108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6-17T02:37:42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8202 5239 0,'71'0'63,"123"-18"-48,88 18 1,35 0 0,1 0-1,229 71 32,-89 17-16,-264-88-15,-17 0 0,52 0-1,-70 0 1,-36 0-1,-17 0 1,-18 0 0,-17 0-1,-18 0 1,70 0 15,-70 0-31,18-18 16,123 1-1,-141 17 1,-36-18 0,19 0-1,-1-17 1,0 17 0,53 1-1,1-19 1,-37 19-1,1-18 1,-35 17 0,0 18-16,-18-35 15,53-36 17,-18 36-17,0-18 1,-17 18-1,-1-18 1,-17 35 0,0-17-1,0 0 17,-35 17-17,-18-35 1,-35-35-1,53 70 1,-53-52 0,-1 17-1,36 17 17,0-17-17,-17 1 1,-71-19-1,0 18 1,70 35-16,18-17 16,-35 0-1,0 0 1,-18-1 0,-70-17-1,-1 36 1,1-1-1,-1 0 1,54 1 0,-36-18-1,-52 35 1,17 0 15,17-18-15,36 18-1,18 0 1,-160 0 0,160 18-1,52-18 1,54 17 0,-19-17-1,-69 18 1,-1-1-1,-71 1 1,-52 0 0,106-18-1,70 17 17,17 1-32,19-18 15,-54 18 1,-17 17-1,35-17 1,18 17 0,0-35-1,-1 35 1,1 0 0,17-17-1,18 35 1,-35 0-1,17 17 1,18 1 0,-17-18-16,17-18 15,0 53 1,0-17 15,0-36-15,17 18-1,1 0 1,17 0 0,1 18-1,-1-36 1,-17 0 0,-1 0-1,1-17 1,-18 0-16,0-1 15,53 36 1,-36-18 0,19-17-1,-19-18 17,19 35-17,-19-35 1,18 18-1,1-18 1,17 35 0,0 1-1,-1-19 1,-34-17-16,17 0 16,-17 0-1,0 0 63,-1 0-15,1 0-48,35 0 1</inkml:trace>
  <inkml:trace contextRef="#ctx0" brushRef="#br0" timeOffset="56920.65">20673 7391 0,'53'0'16,"141"17"0,35-17-1,18 0 1,-18 0-1,-35 0 1,-123 0 0,105-17 15,-123 17-31,176-18 31,-87 18-15,-1-18-1,-53 18 1,-18 0 0,-52 0-1,0 0 1,17-17 15,36-1-15,-1 18-1,-35 0-15,-17 0 16,17 0 0,-17 0-1,17-17 1,1 17 0,-1 0-1,0 0 1,36 0-1,-1 0 1,-35 0 0,18-18-1,-17 18 1,-19 0 15,1 0-15,0 0 109,17 0 1406,124 53-1500,-54-36-15,-16 1 31,34-18-16,-88 0-15,36 0-1,-53 0 32,70 0-31,-18 0-1,-34 0 1,-19 0 0,1 0 62</inkml:trace>
  <inkml:trace contextRef="#ctx0" brushRef="#br0" timeOffset="58312.86">27093 7250 0,'106'0'47,"-35"0"-31,229 0 15,-195 0-31,266 17 15,-142-17 17,353 0 15,-300 0-16,-176 0-16,-53 0-15,18 0 16,70 0 0,18 0-1,-124 0 1,-17 0 0,34-17 46,37-19-31,-54 19 1</inkml:trace>
  <inkml:trace contextRef="#ctx0" brushRef="#br0" timeOffset="60433.18">5521 8149 0,'18'0'15,"35"0"1,193 0 15,-175 0-15,123 0-1,18 0 1,335 0 15,70-17 0,-476-1-15,88 18 0,-17 0-1,17-18 17,1 18-17,-72 0 1,-69-17-1,-19 17 1,-35-18-16,1 0 16,-1 18-1,0-17 1,-17 17 0,35-18-1,-36 18 1,1 0-1,17-18 1,-17 18 0,17 0-1,18 0 1,35 0 15,53 18-15,124 17-1,70 18 1,0-17 0,142-1-1,-142 0 1,-35-35 0,-36 18-1,-105-18 1,-106 0-1,-18 0 1,-17 0 0,-1 0-1,36 0 48,-35 0-32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7" Type="http://schemas.openxmlformats.org/officeDocument/2006/relationships/image" Target="../media/image12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jpe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029460" y="1692275"/>
            <a:ext cx="8133715" cy="2570480"/>
          </a:xfrm>
        </p:spPr>
        <p:txBody>
          <a:bodyPr/>
          <a:lstStyle/>
          <a:p>
            <a:r>
              <a:rPr lang="zh-CN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软件设计与体系结构复习重点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/>
              <a:t>1</a:t>
            </a:r>
            <a:r>
              <a:rPr lang="zh-CN" altLang="en-US" sz="3110" b="1"/>
              <a:t>、</a:t>
            </a:r>
            <a:r>
              <a:rPr lang="zh-CN" altLang="en-US" sz="3110" b="1">
                <a:solidFill>
                  <a:schemeClr val="tx1"/>
                </a:solidFill>
              </a:rPr>
              <a:t>请解释一下什么是软件体系结构？软件体系结构的作用体现在哪些方面？</a:t>
            </a:r>
            <a:r>
              <a:rPr lang="en-US" altLang="zh-CN" sz="3110" b="1"/>
              <a:t>P22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软件系统的结构，包含软件元素、软件元素外部可见的属性，以及这些软件元素之间的关系 或（软件系统的基本组织，包含构件、构件之间、构件与环境之间的关系，以及相关的设计与进化原则等。）</a:t>
            </a:r>
          </a:p>
          <a:p>
            <a:r>
              <a:rPr lang="zh-CN" altLang="en-US"/>
              <a:t>软件体系结构设计作为软件设计过程中的活动之一， 能在较为抽象的级别上描述整个软件系统的结构，成为大规模、复杂软件系统设计中必不可少的步骤。</a:t>
            </a: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、面向对象的七大基本原则是哪些，请简单阐述？</a:t>
            </a:r>
            <a:r>
              <a:rPr lang="en-US" altLang="zh-CN" sz="2800" b="1" dirty="0"/>
              <a:t>P238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单一职责原则</a:t>
            </a:r>
            <a:r>
              <a:rPr lang="zh-CN" altLang="en-US" dirty="0"/>
              <a:t>（一个人只做一件事）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开放封闭原则</a:t>
            </a:r>
            <a:r>
              <a:rPr lang="zh-CN" altLang="en-US" dirty="0"/>
              <a:t>（对扩展开放，对修改关闭）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、里氏替换原则（子类不要改变父类的预期行为）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、依赖倒置原则（高层模块不依赖低层模块，都依赖接口）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、接口隔离原则（接口要小而专）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迪米特原则</a:t>
            </a:r>
            <a:r>
              <a:rPr lang="zh-CN" altLang="en-US" dirty="0"/>
              <a:t>（不要和陌生人说话）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、组合复用原则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、什么是高可信软件，高可信软件有哪些性质？</a:t>
            </a:r>
            <a:r>
              <a:rPr lang="en-US" altLang="zh-CN" sz="2800" b="1" dirty="0"/>
              <a:t>P98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可靠性</a:t>
            </a:r>
          </a:p>
          <a:p>
            <a:r>
              <a:rPr lang="zh-CN" altLang="en-US"/>
              <a:t>可靠安全性</a:t>
            </a:r>
          </a:p>
          <a:p>
            <a:r>
              <a:rPr lang="zh-CN" altLang="en-US"/>
              <a:t>保密安全性</a:t>
            </a:r>
          </a:p>
          <a:p>
            <a:r>
              <a:rPr lang="zh-CN" altLang="en-US"/>
              <a:t>生存性</a:t>
            </a:r>
          </a:p>
          <a:p>
            <a:r>
              <a:rPr lang="zh-CN" altLang="en-US"/>
              <a:t>容错性</a:t>
            </a:r>
          </a:p>
          <a:p>
            <a:r>
              <a:rPr lang="zh-CN" altLang="en-US"/>
              <a:t>实时性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/>
              <a:t>4</a:t>
            </a:r>
            <a:r>
              <a:rPr lang="zh-CN" altLang="en-US" sz="3110" b="1"/>
              <a:t>、云计算根据服务类型分类分为那几类，每一类有什么特点？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基础设施层</a:t>
            </a:r>
            <a:r>
              <a:rPr lang="en-US" altLang="zh-CN"/>
              <a:t>IaaS</a:t>
            </a:r>
          </a:p>
          <a:p>
            <a:r>
              <a:rPr lang="zh-CN" altLang="en-US"/>
              <a:t>平台层</a:t>
            </a:r>
            <a:r>
              <a:rPr lang="en-US" altLang="zh-CN"/>
              <a:t>PaaS</a:t>
            </a:r>
          </a:p>
          <a:p>
            <a:r>
              <a:rPr lang="zh-CN" altLang="en-US"/>
              <a:t>应用程序层</a:t>
            </a:r>
            <a:r>
              <a:rPr lang="en-US" altLang="zh-CN"/>
              <a:t>SaaS</a:t>
            </a:r>
          </a:p>
          <a:p>
            <a:r>
              <a:rPr lang="zh-CN" altLang="en-US"/>
              <a:t>云计算中的虚拟化技术主要解决的问题是：</a:t>
            </a:r>
            <a:r>
              <a:rPr lang="zh-CN" altLang="en-US">
                <a:solidFill>
                  <a:srgbClr val="FF0000"/>
                </a:solidFill>
              </a:rPr>
              <a:t>资源利用率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55" y="3841750"/>
            <a:ext cx="5953125" cy="428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55" y="4599940"/>
            <a:ext cx="1143000" cy="457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 dirty="0"/>
              <a:t>5</a:t>
            </a:r>
            <a:r>
              <a:rPr lang="zh-CN" altLang="en-US" sz="3110" b="1" dirty="0"/>
              <a:t>、比较</a:t>
            </a:r>
            <a:r>
              <a:rPr lang="en-US" altLang="zh-CN" sz="3110" b="1" dirty="0"/>
              <a:t>B/S</a:t>
            </a:r>
            <a:r>
              <a:rPr lang="zh-CN" altLang="en-US" sz="3110" b="1" dirty="0"/>
              <a:t>架构与</a:t>
            </a:r>
            <a:r>
              <a:rPr lang="en-US" altLang="zh-CN" sz="3110" b="1" dirty="0"/>
              <a:t>C/S</a:t>
            </a:r>
            <a:r>
              <a:rPr lang="zh-CN" altLang="en-US" sz="3110" b="1" dirty="0"/>
              <a:t>架构的优缺点，并说明适用场景。</a:t>
            </a:r>
            <a:r>
              <a:rPr lang="en-US" altLang="zh-CN" sz="3110" b="1" dirty="0"/>
              <a:t>P124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/>
              <a:t>B/S</a:t>
            </a:r>
            <a:r>
              <a:rPr lang="zh-CN" altLang="en-US"/>
              <a:t>：浏览器</a:t>
            </a:r>
            <a:r>
              <a:rPr lang="en-US" altLang="zh-CN"/>
              <a:t>/</a:t>
            </a:r>
            <a:r>
              <a:rPr lang="zh-CN" altLang="en-US"/>
              <a:t>服务器结构</a:t>
            </a:r>
          </a:p>
          <a:p>
            <a:r>
              <a:rPr lang="en-US" altLang="zh-CN"/>
              <a:t>C/S</a:t>
            </a:r>
            <a:r>
              <a:rPr lang="zh-CN" altLang="en-US"/>
              <a:t>：客户</a:t>
            </a:r>
            <a:r>
              <a:rPr lang="en-US" altLang="zh-CN"/>
              <a:t>/</a:t>
            </a:r>
            <a:r>
              <a:rPr lang="zh-CN" altLang="en-US"/>
              <a:t>服务器结构</a:t>
            </a:r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25" y="2550795"/>
            <a:ext cx="6772275" cy="2867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25" y="5631815"/>
            <a:ext cx="1038225" cy="428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sz="2800" b="1"/>
              <a:t>6</a:t>
            </a:r>
            <a:r>
              <a:rPr lang="zh-CN" altLang="en-US" sz="2800" b="1"/>
              <a:t>、面向对象方法用于系统开发的优势有哪些？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封装：将数据和操作数据的方法绑定为一个单元（类），通过访问修饰符控制外部访问。核心：</a:t>
            </a:r>
            <a:r>
              <a:rPr lang="zh-CN" altLang="en-US">
                <a:solidFill>
                  <a:srgbClr val="FF0000"/>
                </a:solidFill>
              </a:rPr>
              <a:t>信息隐藏</a:t>
            </a:r>
            <a:endParaRPr lang="zh-CN" altLang="en-US"/>
          </a:p>
          <a:p>
            <a:r>
              <a:rPr lang="zh-CN" altLang="en-US"/>
              <a:t>多态：同一接口在不同对象上有不同实现方式</a:t>
            </a:r>
          </a:p>
          <a:p>
            <a:r>
              <a:rPr lang="zh-CN" altLang="en-US"/>
              <a:t>继承：子类自动获得父类的属性和方法，形成</a:t>
            </a:r>
            <a:r>
              <a:rPr lang="en-US" altLang="zh-CN">
                <a:solidFill>
                  <a:srgbClr val="FF0000"/>
                </a:solidFill>
              </a:rPr>
              <a:t>is-a</a:t>
            </a:r>
            <a:r>
              <a:rPr lang="zh-CN" altLang="en-US"/>
              <a:t>关系。关键：代码复用和层次化设计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 dirty="0"/>
              <a:t>7</a:t>
            </a:r>
            <a:r>
              <a:rPr lang="zh-CN" altLang="en-US" sz="3110" b="1" dirty="0"/>
              <a:t>、请简述什么是</a:t>
            </a:r>
            <a:r>
              <a:rPr lang="en-US" altLang="zh-CN" sz="3110" b="1" dirty="0"/>
              <a:t>MVC</a:t>
            </a:r>
            <a:r>
              <a:rPr lang="zh-CN" altLang="en-US" sz="3110" b="1" dirty="0"/>
              <a:t>模式，其组成部分的主要功能是什么？</a:t>
            </a:r>
            <a:r>
              <a:rPr lang="en-US" altLang="zh-CN" sz="3110" b="1" dirty="0"/>
              <a:t>P115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模型</a:t>
            </a:r>
            <a:r>
              <a:rPr lang="en-US" altLang="zh-CN"/>
              <a:t>-</a:t>
            </a:r>
            <a:r>
              <a:rPr lang="zh-CN" altLang="en-US"/>
              <a:t>视图</a:t>
            </a:r>
            <a:r>
              <a:rPr lang="en-US" altLang="zh-CN"/>
              <a:t>-</a:t>
            </a:r>
            <a:r>
              <a:rPr lang="zh-CN" altLang="en-US"/>
              <a:t>控制器（</a:t>
            </a:r>
            <a:r>
              <a:rPr lang="en-US" altLang="zh-CN"/>
              <a:t>Model-View-Controller</a:t>
            </a:r>
            <a:r>
              <a:rPr lang="zh-CN" altLang="en-US"/>
              <a:t>）</a:t>
            </a:r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80" y="2190115"/>
            <a:ext cx="6810375" cy="2971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80" y="5395595"/>
            <a:ext cx="1038225" cy="428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2800" b="1"/>
              <a:t>管道</a:t>
            </a:r>
            <a:r>
              <a:rPr lang="en-US" altLang="zh-CN" sz="2800" b="1"/>
              <a:t>/</a:t>
            </a:r>
            <a:r>
              <a:rPr lang="zh-CN" altLang="en-US" sz="2800" b="1"/>
              <a:t>过滤器风格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8330" y="1529080"/>
            <a:ext cx="6515100" cy="2828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330" y="4793615"/>
            <a:ext cx="971550" cy="4191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sz="2800" b="1"/>
              <a:t>8</a:t>
            </a:r>
            <a:r>
              <a:rPr lang="zh-CN" altLang="en-US" sz="2800" b="1"/>
              <a:t>、软件进化的策略有哪些层次？</a:t>
            </a:r>
            <a:r>
              <a:rPr lang="en-US" altLang="zh-CN" sz="2800" b="1"/>
              <a:t>P312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函数层次</a:t>
            </a:r>
          </a:p>
          <a:p>
            <a:r>
              <a:rPr lang="zh-CN" altLang="en-US"/>
              <a:t>类层次</a:t>
            </a:r>
          </a:p>
          <a:p>
            <a:r>
              <a:rPr lang="zh-CN" altLang="en-US"/>
              <a:t>构件层次</a:t>
            </a:r>
          </a:p>
          <a:p>
            <a:r>
              <a:rPr lang="zh-CN" altLang="en-US"/>
              <a:t>体系结构层次</a:t>
            </a:r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255520"/>
            <a:ext cx="4914900" cy="371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835" y="2990850"/>
            <a:ext cx="981075" cy="4381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 dirty="0"/>
              <a:t>13</a:t>
            </a:r>
            <a:r>
              <a:rPr lang="zh-CN" altLang="en-US" sz="3110" b="1" dirty="0"/>
              <a:t>、</a:t>
            </a:r>
            <a:r>
              <a:rPr lang="zh-CN" altLang="en-US" sz="3110" b="1" dirty="0">
                <a:solidFill>
                  <a:schemeClr val="tx1"/>
                </a:solidFill>
              </a:rPr>
              <a:t>基于场景的评估方法有哪两种，并说明这两种方法有哪些不同之处？</a:t>
            </a:r>
            <a:r>
              <a:rPr lang="en-US" altLang="zh-CN" sz="3110" b="1" dirty="0"/>
              <a:t>P294</a:t>
            </a:r>
            <a:r>
              <a:rPr lang="zh-CN" altLang="en-US" sz="3110" b="1" dirty="0"/>
              <a:t>、</a:t>
            </a:r>
            <a:r>
              <a:rPr lang="en-US" altLang="zh-CN" sz="3110" b="1" dirty="0"/>
              <a:t>P303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489710"/>
            <a:ext cx="10968990" cy="4759960"/>
          </a:xfrm>
        </p:spPr>
        <p:txBody>
          <a:bodyPr/>
          <a:lstStyle/>
          <a:p>
            <a:r>
              <a:rPr lang="zh-CN" altLang="en-US" dirty="0"/>
              <a:t>2种基于场景的评估方法，分别是基于场景的软件体系结构分析方法（</a:t>
            </a:r>
            <a:r>
              <a:rPr lang="en-US" altLang="zh-CN" dirty="0"/>
              <a:t>Software Architecture Analysis Method</a:t>
            </a:r>
            <a:r>
              <a:rPr lang="zh-CN" altLang="en-US" dirty="0"/>
              <a:t>，</a:t>
            </a:r>
            <a:r>
              <a:rPr lang="en-US" altLang="zh-CN" dirty="0"/>
              <a:t>SAAM</a:t>
            </a:r>
            <a:r>
              <a:rPr lang="zh-CN" altLang="en-US" dirty="0"/>
              <a:t>）、软件体系结构折中分析方法（</a:t>
            </a:r>
            <a:r>
              <a:rPr lang="en-US" altLang="zh-CN" dirty="0"/>
              <a:t>Architecture Tradeoff Analysis Method</a:t>
            </a:r>
            <a:r>
              <a:rPr lang="zh-CN" altLang="en-US" dirty="0"/>
              <a:t>，</a:t>
            </a:r>
            <a:r>
              <a:rPr lang="en-US" altLang="zh-CN" dirty="0"/>
              <a:t>ATAM</a:t>
            </a:r>
            <a:r>
              <a:rPr lang="zh-CN" altLang="en-US" dirty="0"/>
              <a:t>）。它们的场景的生成方式不同、风险承担者商业动机表述方式不同、软件体系结构的描述方式不同。。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sz="2800" b="1" dirty="0"/>
              <a:t>14</a:t>
            </a:r>
            <a:r>
              <a:rPr lang="zh-CN" altLang="en-US" sz="2800" b="1" dirty="0"/>
              <a:t>、请列出软件模型的发展轨迹顺序。</a:t>
            </a:r>
            <a:r>
              <a:rPr lang="en-US" altLang="zh-CN" sz="2800" b="1" dirty="0"/>
              <a:t>P37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功能模型：称作过程模型或函数模型，是模型化软件构建方法的第一个基本模型</a:t>
            </a:r>
          </a:p>
          <a:p>
            <a:r>
              <a:rPr lang="zh-CN" altLang="en-US"/>
              <a:t>对象模型：以对象为核心，通过对象进行数据组织的抽象并实现数据组织和数据处理的统一</a:t>
            </a:r>
          </a:p>
          <a:p>
            <a:r>
              <a:rPr lang="zh-CN" altLang="en-US"/>
              <a:t>组件模型：在对象模型的基础上强调了异族对象关系以及独立性问题</a:t>
            </a:r>
          </a:p>
          <a:p>
            <a:r>
              <a:rPr lang="zh-CN" altLang="en-US"/>
              <a:t>配置型组件模型：又称服务器组件模型，专门针对应用服务器，定义其基于组件的基础结构</a:t>
            </a:r>
          </a:p>
          <a:p>
            <a:r>
              <a:rPr lang="zh-CN" altLang="en-US"/>
              <a:t>服务模型：封装高级业务概念、实现公共需求功能、可远程访问的独立应用程序模块</a:t>
            </a:r>
          </a:p>
          <a:p>
            <a:r>
              <a:rPr lang="zh-CN" altLang="en-US"/>
              <a:t>抽象模型：抽象层次最高，不关注描述的具体实现平台和环境，具备完整的技术独立性和应用发展适应性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 dirty="0"/>
              <a:t>15</a:t>
            </a:r>
            <a:r>
              <a:rPr lang="zh-CN" altLang="en-US" sz="3110" b="1" dirty="0"/>
              <a:t>、</a:t>
            </a:r>
            <a:r>
              <a:rPr lang="zh-CN" altLang="en-US" sz="3110" b="1" dirty="0">
                <a:solidFill>
                  <a:schemeClr val="tx1"/>
                </a:solidFill>
              </a:rPr>
              <a:t>什么是软件设计模式，常用的软件设计模型分类有哪些？</a:t>
            </a:r>
            <a:r>
              <a:rPr lang="en-US" altLang="zh-CN" sz="3110" b="1" dirty="0"/>
              <a:t>P126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软件设计模式是对软件设计经验的总结，是对软件设计中特定环境下反复出现的设计问题的、经过验证的、成功解决方案描述。它的主要作用包括提高代码的可重用性、可维护性和可扩展性，减少代码的复杂性，提高开发效率。常用的软件设计模型有创建型软件设计模式、结构型软件设计模式、行为型软件设计模式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61A35D6-A58F-94F3-4638-494542084314}"/>
                  </a:ext>
                </a:extLst>
              </p14:cNvPr>
              <p14:cNvContentPartPr/>
              <p14:nvPr/>
            </p14:nvContentPartPr>
            <p14:xfrm>
              <a:off x="1987560" y="1390680"/>
              <a:ext cx="8776080" cy="15688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61A35D6-A58F-94F3-4638-4945420843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78200" y="1381320"/>
                <a:ext cx="8794800" cy="15876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sz="2800" b="1" dirty="0"/>
              <a:t>16、ADL</a:t>
            </a:r>
            <a:r>
              <a:rPr lang="zh-CN" altLang="en-US" sz="2800" b="1" dirty="0"/>
              <a:t>是什么？有哪几种典型的</a:t>
            </a:r>
            <a:r>
              <a:rPr lang="en-US" altLang="zh-CN" sz="2800" b="1" dirty="0"/>
              <a:t>ADL？P62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体系结构描述语言，一种用于描述软件与体系结构的计算机语言</a:t>
            </a:r>
          </a:p>
          <a:p>
            <a:r>
              <a:rPr lang="zh-CN" altLang="en-US"/>
              <a:t>依靠形式化方法</a:t>
            </a:r>
            <a:r>
              <a:rPr lang="zh-CN" altLang="en-US">
                <a:solidFill>
                  <a:srgbClr val="FF0000"/>
                </a:solidFill>
              </a:rPr>
              <a:t>支持对系统描述的分析与验证</a:t>
            </a:r>
            <a:endParaRPr lang="zh-CN" altLang="en-US"/>
          </a:p>
          <a:p>
            <a:r>
              <a:rPr lang="zh-CN" altLang="en-US"/>
              <a:t>元素：构件、操作、模式、闭包、规格说明</a:t>
            </a: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 dirty="0"/>
              <a:t>17</a:t>
            </a:r>
            <a:r>
              <a:rPr lang="zh-CN" altLang="en-US" sz="3110" b="1" dirty="0"/>
              <a:t>、</a:t>
            </a:r>
            <a:r>
              <a:rPr lang="zh-CN" altLang="en-US" sz="3110" b="1" dirty="0">
                <a:solidFill>
                  <a:schemeClr val="tx1"/>
                </a:solidFill>
              </a:rPr>
              <a:t>在三层</a:t>
            </a:r>
            <a:r>
              <a:rPr lang="en-US" altLang="zh-CN" sz="3110" b="1" dirty="0">
                <a:solidFill>
                  <a:schemeClr val="tx1"/>
                </a:solidFill>
              </a:rPr>
              <a:t>C/S</a:t>
            </a:r>
            <a:r>
              <a:rPr lang="zh-CN" altLang="en-US" sz="3110" b="1" dirty="0">
                <a:solidFill>
                  <a:schemeClr val="tx1"/>
                </a:solidFill>
              </a:rPr>
              <a:t>体系结构中，将应用功能分为哪几个部分，各自承担着哪些作用？</a:t>
            </a:r>
            <a:r>
              <a:rPr lang="en-US" altLang="zh-CN" sz="3110" b="1" dirty="0"/>
              <a:t>P126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1、表示层‌：负责与用户交互，处理界面展示和输入接收（如</a:t>
            </a:r>
            <a:r>
              <a:rPr lang="en-US" altLang="zh-CN"/>
              <a:t>GUI</a:t>
            </a:r>
            <a:r>
              <a:rPr lang="zh-CN" altLang="en-US"/>
              <a:t>或</a:t>
            </a:r>
            <a:r>
              <a:rPr lang="en-US" altLang="zh-CN"/>
              <a:t>Web</a:t>
            </a:r>
            <a:r>
              <a:rPr lang="zh-CN" altLang="en-US"/>
              <a:t>界面），不包含业务逻辑，仅将请求转发给功能层并呈现其返回结果。</a:t>
            </a:r>
          </a:p>
          <a:p>
            <a:r>
              <a:rPr lang="zh-CN" altLang="en-US"/>
              <a:t> 2、功能层（又称业务逻辑层）‌：核心处理层，负责执行业务规则、数据验证、事务控制和应用逻辑，协调表示层与数据层之间的交互，隔离前端与数据访问细节。</a:t>
            </a:r>
          </a:p>
          <a:p>
            <a:r>
              <a:rPr lang="zh-CN" altLang="en-US"/>
              <a:t> 3、数据层‌：管理数据存储与访问，通常由数据库管理系统实现，负责执行</a:t>
            </a:r>
            <a:r>
              <a:rPr lang="en-US" altLang="zh-CN"/>
              <a:t>CRUD</a:t>
            </a:r>
            <a:r>
              <a:rPr lang="zh-CN" altLang="en-US"/>
              <a:t>操作（增删改查），确保数据一致性、完整性和安全性，仅响应功能层的请求。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2800" b="1">
                <a:sym typeface="+mn-ea"/>
              </a:rPr>
              <a:t>19、软件的可靠性度量参数有哪些指标？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平均无故障时间</a:t>
            </a:r>
          </a:p>
          <a:p>
            <a:r>
              <a:rPr lang="zh-CN" altLang="en-US"/>
              <a:t>平均修复时间</a:t>
            </a:r>
          </a:p>
          <a:p>
            <a:r>
              <a:rPr lang="zh-CN" altLang="en-US"/>
              <a:t>失效间隔时间</a:t>
            </a:r>
          </a:p>
          <a:p>
            <a:r>
              <a:rPr lang="zh-CN" altLang="en-US"/>
              <a:t>故障率</a:t>
            </a:r>
          </a:p>
          <a:p>
            <a:r>
              <a:rPr lang="zh-CN" altLang="en-US"/>
              <a:t>容错率</a:t>
            </a:r>
          </a:p>
          <a:p>
            <a:r>
              <a:rPr lang="zh-CN" altLang="en-US"/>
              <a:t>可用性</a:t>
            </a:r>
          </a:p>
        </p:txBody>
      </p:sp>
      <p:pic>
        <p:nvPicPr>
          <p:cNvPr id="5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83580" y="1660525"/>
            <a:ext cx="4114800" cy="2524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3580" y="4412615"/>
            <a:ext cx="1028700" cy="4191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110" b="1" dirty="0"/>
              <a:t>21、在软件设计的一般过程框架中，设计活动包含哪些？</a:t>
            </a:r>
            <a:r>
              <a:rPr lang="en-US" altLang="zh-CN" sz="3110" b="1" dirty="0"/>
              <a:t>P91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软件设计计划</a:t>
            </a:r>
          </a:p>
          <a:p>
            <a:r>
              <a:rPr lang="zh-CN" altLang="en-US" dirty="0"/>
              <a:t>体系结构设计</a:t>
            </a:r>
          </a:p>
          <a:p>
            <a:r>
              <a:rPr lang="zh-CN" altLang="en-US" dirty="0"/>
              <a:t>界面设计</a:t>
            </a:r>
          </a:p>
          <a:p>
            <a:r>
              <a:rPr lang="zh-CN" altLang="en-US" dirty="0"/>
              <a:t>模块</a:t>
            </a:r>
            <a:r>
              <a:rPr lang="en-US" altLang="zh-CN" dirty="0"/>
              <a:t>/</a:t>
            </a:r>
            <a:r>
              <a:rPr lang="zh-CN" altLang="en-US" dirty="0"/>
              <a:t>子系统设计</a:t>
            </a:r>
          </a:p>
          <a:p>
            <a:r>
              <a:rPr lang="zh-CN" altLang="en-US" dirty="0"/>
              <a:t>过程</a:t>
            </a:r>
            <a:r>
              <a:rPr lang="en-US" altLang="zh-CN" dirty="0"/>
              <a:t>/</a:t>
            </a:r>
            <a:r>
              <a:rPr lang="zh-CN" altLang="en-US" dirty="0"/>
              <a:t>算法设计</a:t>
            </a:r>
          </a:p>
          <a:p>
            <a:r>
              <a:rPr lang="zh-CN" altLang="en-US" dirty="0"/>
              <a:t>数据模型设计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110" b="1"/>
              <a:t>22、多重视图模型最著名的“4+1”视图模型分别包含哪些部分，各自的作用体现在哪里？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逻辑视图</a:t>
            </a:r>
          </a:p>
          <a:p>
            <a:r>
              <a:rPr lang="zh-CN" altLang="en-US"/>
              <a:t>开发视图</a:t>
            </a:r>
          </a:p>
          <a:p>
            <a:r>
              <a:rPr lang="zh-CN" altLang="en-US"/>
              <a:t>过程视图</a:t>
            </a:r>
          </a:p>
          <a:p>
            <a:r>
              <a:rPr lang="zh-CN" altLang="en-US"/>
              <a:t>物理视图</a:t>
            </a:r>
          </a:p>
          <a:p>
            <a:r>
              <a:rPr lang="zh-CN" altLang="en-US"/>
              <a:t>场景视图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110" b="1"/>
              <a:t>24、UML</a:t>
            </a:r>
            <a:r>
              <a:rPr lang="zh-CN" altLang="en-US" sz="3110" b="1"/>
              <a:t>中的行为建模是什么，有哪些类型的图属于行为建模？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用例图</a:t>
            </a:r>
          </a:p>
          <a:p>
            <a:r>
              <a:rPr lang="zh-CN" altLang="en-US"/>
              <a:t>顺序图</a:t>
            </a:r>
          </a:p>
          <a:p>
            <a:r>
              <a:rPr lang="zh-CN" altLang="en-US"/>
              <a:t>通信图</a:t>
            </a:r>
          </a:p>
          <a:p>
            <a:r>
              <a:rPr lang="zh-CN" altLang="en-US"/>
              <a:t>交互概览图</a:t>
            </a:r>
          </a:p>
          <a:p>
            <a:r>
              <a:rPr lang="zh-CN" altLang="en-US"/>
              <a:t>时序图</a:t>
            </a:r>
          </a:p>
          <a:p>
            <a:r>
              <a:rPr lang="zh-CN" altLang="en-US"/>
              <a:t>状态图</a:t>
            </a:r>
          </a:p>
          <a:p>
            <a:r>
              <a:rPr lang="zh-CN" altLang="en-US"/>
              <a:t>活动图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985" y="1385570"/>
            <a:ext cx="5638800" cy="2667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945" y="4394835"/>
            <a:ext cx="885825" cy="4762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800" b="1"/>
              <a:t>25、在软件设计的过程中，需要注意哪些基本原则？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模块划分应遵循的原则：</a:t>
            </a:r>
            <a:r>
              <a:rPr lang="zh-CN" altLang="en-US">
                <a:solidFill>
                  <a:srgbClr val="FF0000"/>
                </a:solidFill>
              </a:rPr>
              <a:t>高内聚低耦合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2800" b="1"/>
              <a:t>综合题</a:t>
            </a:r>
            <a:r>
              <a:rPr lang="en-US" altLang="zh-CN" sz="2800" b="1"/>
              <a:t>1</a:t>
            </a:r>
            <a:r>
              <a:rPr lang="zh-CN" altLang="en-US" sz="2800" b="1"/>
              <a:t>：用例图和类图</a:t>
            </a:r>
          </a:p>
        </p:txBody>
      </p:sp>
      <p:pic>
        <p:nvPicPr>
          <p:cNvPr id="7" name="图片 6" descr="IMG_8936(20260608-124338)"/>
          <p:cNvPicPr>
            <a:picLocks noChangeAspect="1"/>
          </p:cNvPicPr>
          <p:nvPr/>
        </p:nvPicPr>
        <p:blipFill>
          <a:blip r:embed="rId5"/>
          <a:srcRect l="7146" r="10165"/>
          <a:stretch>
            <a:fillRect/>
          </a:stretch>
        </p:blipFill>
        <p:spPr>
          <a:xfrm>
            <a:off x="6285865" y="0"/>
            <a:ext cx="5814695" cy="6868795"/>
          </a:xfrm>
          <a:prstGeom prst="rect">
            <a:avLst/>
          </a:prstGeom>
        </p:spPr>
      </p:pic>
      <p:pic>
        <p:nvPicPr>
          <p:cNvPr id="8" name="图片 7" descr="IMG_8939(20260608-124507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1560830"/>
            <a:ext cx="5833745" cy="5118735"/>
          </a:xfrm>
          <a:prstGeom prst="rect">
            <a:avLst/>
          </a:prstGeom>
        </p:spPr>
      </p:pic>
      <p:pic>
        <p:nvPicPr>
          <p:cNvPr id="3" name="图片 2" descr="IMG_8938(20260610-150831)"/>
          <p:cNvPicPr>
            <a:picLocks noChangeAspect="1"/>
          </p:cNvPicPr>
          <p:nvPr/>
        </p:nvPicPr>
        <p:blipFill>
          <a:blip r:embed="rId7"/>
          <a:srcRect t="13311" b="47315"/>
          <a:stretch>
            <a:fillRect/>
          </a:stretch>
        </p:blipFill>
        <p:spPr>
          <a:xfrm>
            <a:off x="1297940" y="4951730"/>
            <a:ext cx="4987925" cy="307340"/>
          </a:xfrm>
          <a:prstGeom prst="rect">
            <a:avLst/>
          </a:prstGeom>
        </p:spPr>
      </p:pic>
      <p:pic>
        <p:nvPicPr>
          <p:cNvPr id="4" name="图片 3" descr="IMG_8962(20260610-150904)"/>
          <p:cNvPicPr>
            <a:picLocks noChangeAspect="1"/>
          </p:cNvPicPr>
          <p:nvPr/>
        </p:nvPicPr>
        <p:blipFill>
          <a:blip r:embed="rId8"/>
          <a:srcRect b="27421"/>
          <a:stretch>
            <a:fillRect/>
          </a:stretch>
        </p:blipFill>
        <p:spPr>
          <a:xfrm>
            <a:off x="1962785" y="5695315"/>
            <a:ext cx="4477385" cy="631825"/>
          </a:xfrm>
          <a:prstGeom prst="rect">
            <a:avLst/>
          </a:prstGeom>
        </p:spPr>
      </p:pic>
      <p:pic>
        <p:nvPicPr>
          <p:cNvPr id="5" name="图片 4" descr="IMG_8963(20260610-150925)"/>
          <p:cNvPicPr>
            <a:picLocks noChangeAspect="1"/>
          </p:cNvPicPr>
          <p:nvPr/>
        </p:nvPicPr>
        <p:blipFill>
          <a:blip r:embed="rId9"/>
          <a:srcRect b="9827"/>
          <a:stretch>
            <a:fillRect/>
          </a:stretch>
        </p:blipFill>
        <p:spPr>
          <a:xfrm>
            <a:off x="6440170" y="5259070"/>
            <a:ext cx="5533390" cy="13081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36345" y="-635"/>
            <a:ext cx="963231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2800" b="1"/>
              <a:t>综合题</a:t>
            </a:r>
            <a:r>
              <a:rPr lang="en-US" altLang="zh-CN" sz="2800" b="1"/>
              <a:t>2</a:t>
            </a:r>
            <a:r>
              <a:rPr lang="zh-CN" altLang="en-US" sz="2800" b="1"/>
              <a:t>：数据图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外部实体/数据源</a:t>
            </a:r>
          </a:p>
          <a:p>
            <a:r>
              <a:rPr lang="zh-CN" altLang="en-US"/>
              <a:t>数据流</a:t>
            </a:r>
          </a:p>
          <a:p>
            <a:r>
              <a:rPr lang="zh-CN" altLang="en-US"/>
              <a:t>数据存储</a:t>
            </a:r>
          </a:p>
          <a:p>
            <a:r>
              <a:rPr lang="zh-CN" altLang="en-US"/>
              <a:t>加工处理</a:t>
            </a:r>
          </a:p>
          <a:p>
            <a:r>
              <a:rPr lang="zh-CN" altLang="en-US"/>
              <a:t>数据流图是从数据传递和加工的</a:t>
            </a:r>
          </a:p>
          <a:p>
            <a:pPr marL="0" indent="0">
              <a:buNone/>
            </a:pPr>
            <a:r>
              <a:rPr lang="zh-CN" altLang="en-US"/>
              <a:t>角度，以图形的方式来描述逻辑输</a:t>
            </a:r>
          </a:p>
          <a:p>
            <a:pPr marL="0" indent="0">
              <a:buNone/>
            </a:pPr>
            <a:r>
              <a:rPr lang="zh-CN" altLang="en-US"/>
              <a:t>入经过系统加工处理后转化为逻辑</a:t>
            </a:r>
          </a:p>
          <a:p>
            <a:pPr marL="0" indent="0">
              <a:buNone/>
            </a:pPr>
            <a:r>
              <a:rPr lang="zh-CN" altLang="en-US"/>
              <a:t>输出的结构化系统分析工具，能用</a:t>
            </a:r>
          </a:p>
          <a:p>
            <a:pPr marL="0" indent="0">
              <a:buNone/>
            </a:pPr>
            <a:r>
              <a:rPr lang="zh-CN" altLang="en-US"/>
              <a:t>图形的方式刻画数据流从输入到输</a:t>
            </a:r>
          </a:p>
          <a:p>
            <a:pPr marL="0" indent="0">
              <a:buNone/>
            </a:pPr>
            <a:r>
              <a:rPr lang="zh-CN" altLang="en-US"/>
              <a:t>出的变换过程。</a:t>
            </a:r>
          </a:p>
        </p:txBody>
      </p:sp>
      <p:pic>
        <p:nvPicPr>
          <p:cNvPr id="4" name="图片 3" descr="IMG_8931(20260608-121653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190" y="635"/>
            <a:ext cx="6200775" cy="6858000"/>
          </a:xfrm>
          <a:prstGeom prst="rect">
            <a:avLst/>
          </a:prstGeom>
        </p:spPr>
      </p:pic>
      <p:pic>
        <p:nvPicPr>
          <p:cNvPr id="5" name="图片 4" descr="IMG_8932(20260610-151012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6695" y="2833370"/>
            <a:ext cx="1722120" cy="13030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IMG_8932(20260608-12171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195" y="0"/>
            <a:ext cx="7547610" cy="6858000"/>
          </a:xfrm>
          <a:prstGeom prst="rect">
            <a:avLst/>
          </a:prstGeom>
        </p:spPr>
      </p:pic>
      <p:pic>
        <p:nvPicPr>
          <p:cNvPr id="5" name="图片 4" descr="IMG_8964(20260610-151031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850" y="4517390"/>
            <a:ext cx="2667635" cy="14839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1196</Words>
  <Application>Microsoft Office PowerPoint</Application>
  <PresentationFormat>宽屏</PresentationFormat>
  <Paragraphs>100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WPS</vt:lpstr>
      <vt:lpstr>软件设计与体系结构复习重点</vt:lpstr>
      <vt:lpstr>1、请解释一下什么是软件体系结构？软件体系结构的作用体现在哪些方面？P22</vt:lpstr>
      <vt:lpstr>2、面向对象的七大基本原则是哪些，请简单阐述？P238</vt:lpstr>
      <vt:lpstr>3、什么是高可信软件，高可信软件有哪些性质？P98</vt:lpstr>
      <vt:lpstr>4、云计算根据服务类型分类分为那几类，每一类有什么特点？</vt:lpstr>
      <vt:lpstr>5、比较B/S架构与C/S架构的优缺点，并说明适用场景。P124</vt:lpstr>
      <vt:lpstr>6、面向对象方法用于系统开发的优势有哪些？</vt:lpstr>
      <vt:lpstr>7、请简述什么是MVC模式，其组成部分的主要功能是什么？P115</vt:lpstr>
      <vt:lpstr>管道/过滤器风格</vt:lpstr>
      <vt:lpstr>8、软件进化的策略有哪些层次？P312</vt:lpstr>
      <vt:lpstr>13、基于场景的评估方法有哪两种，并说明这两种方法有哪些不同之处？P294、P303</vt:lpstr>
      <vt:lpstr>14、请列出软件模型的发展轨迹顺序。P37</vt:lpstr>
      <vt:lpstr>15、什么是软件设计模式，常用的软件设计模型分类有哪些？P126</vt:lpstr>
      <vt:lpstr>16、ADL是什么？有哪几种典型的ADL？P62</vt:lpstr>
      <vt:lpstr>17、在三层C/S体系结构中，将应用功能分为哪几个部分，各自承担着哪些作用？P126</vt:lpstr>
      <vt:lpstr>19、软件的可靠性度量参数有哪些指标？</vt:lpstr>
      <vt:lpstr>21、在软件设计的一般过程框架中，设计活动包含哪些？P91</vt:lpstr>
      <vt:lpstr>22、多重视图模型最著名的“4+1”视图模型分别包含哪些部分，各自的作用体现在哪里？</vt:lpstr>
      <vt:lpstr>24、UML中的行为建模是什么，有哪些类型的图属于行为建模？</vt:lpstr>
      <vt:lpstr>25、在软件设计的过程中，需要注意哪些基本原则？</vt:lpstr>
      <vt:lpstr>综合题1：用例图和类图</vt:lpstr>
      <vt:lpstr>PowerPoint 演示文稿</vt:lpstr>
      <vt:lpstr>综合题2：数据图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xsxl</cp:lastModifiedBy>
  <cp:revision>162</cp:revision>
  <dcterms:created xsi:type="dcterms:W3CDTF">2019-06-19T02:08:00Z</dcterms:created>
  <dcterms:modified xsi:type="dcterms:W3CDTF">2026-06-17T02:55:53Z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2FE496154A0549CB85B292ECA06CD5EC_11</vt:lpwstr>
  </property>
</Properties>
</file>